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4A6A1-F657-46E2-A8CB-DEA0C5E14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13493A-FBB7-4160-A649-81B446A16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F54EA1-C174-4BE5-9489-40E7C64AE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39F5-7969-4D05-921A-AE526D0C8324}" type="datetimeFigureOut">
              <a:rPr lang="ru-KZ" smtClean="0"/>
              <a:t>21.10.2025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A1E451-0AD9-4438-9DF5-D4623B21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1A8ABA-AD6F-4D8B-AFD7-940E475A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9745-B618-45E7-B6FF-8322E0BD646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8718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1D63B-06DA-4379-8C7B-F3D542B9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E78D1B-5C41-4212-A786-621F8E4F4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2791D3-0CE7-4594-8982-B354D5912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39F5-7969-4D05-921A-AE526D0C8324}" type="datetimeFigureOut">
              <a:rPr lang="ru-KZ" smtClean="0"/>
              <a:t>21.10.2025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89CDDE-C765-4F02-8120-A6EDB5C0A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33C205-9B36-431D-8AAF-00710477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9745-B618-45E7-B6FF-8322E0BD646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33884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23AF0-8353-4874-A43B-1DE58D608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B03D15-3486-4F2F-B086-FDD1A7834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209A26-AB23-40C4-A882-A37074BB2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39F5-7969-4D05-921A-AE526D0C8324}" type="datetimeFigureOut">
              <a:rPr lang="ru-KZ" smtClean="0"/>
              <a:t>21.10.2025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313159-4113-4C79-B064-B4DFDA3C1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E4744A-0CCC-4196-BEF4-8842B760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9745-B618-45E7-B6FF-8322E0BD646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04079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70FB1-6B91-4DD3-A5D5-CDEB07FF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FEAC44-4131-40D3-8988-3A79547A7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7EE99B-26B7-46AF-BFF3-EADE7681A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B752ED-2EA4-496B-B367-652B4168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39F5-7969-4D05-921A-AE526D0C8324}" type="datetimeFigureOut">
              <a:rPr lang="ru-KZ" smtClean="0"/>
              <a:t>21.10.2025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B491AF-5AF2-4B9C-B0CC-281F3ECBA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356282-B38B-48C2-8C92-CAADF436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9745-B618-45E7-B6FF-8322E0BD646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9460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3DF84-186D-48AE-A071-99F54F1D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D7FB84-387A-4453-A476-BD1DBC23D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28F76A-FD83-475C-801E-EDF1A919F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B82805-F22D-4CB7-84C9-FA424D314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A1D1D1-8855-499E-B6DC-2F3607EF4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8AB3312-8BF2-410D-BECE-3A22A25CB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39F5-7969-4D05-921A-AE526D0C8324}" type="datetimeFigureOut">
              <a:rPr lang="ru-KZ" smtClean="0"/>
              <a:t>21.10.2025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FEE47A-5D93-45F8-A381-B63A3AEC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6E3723C-79E2-490B-89D9-EE753EED0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9745-B618-45E7-B6FF-8322E0BD646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5487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9300E-9FCF-4502-A0B6-DBC6A5653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C79361E-436D-40E0-956C-801AA0199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39F5-7969-4D05-921A-AE526D0C8324}" type="datetimeFigureOut">
              <a:rPr lang="ru-KZ" smtClean="0"/>
              <a:t>21.10.2025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F65ACA-2968-42C7-B5A7-79B8FEAE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EC16298-7605-461E-8E59-324BC5D15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9745-B618-45E7-B6FF-8322E0BD646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9833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200FB82-50F1-423B-8BB0-69096F412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39F5-7969-4D05-921A-AE526D0C8324}" type="datetimeFigureOut">
              <a:rPr lang="ru-KZ" smtClean="0"/>
              <a:t>21.10.2025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31C63B7-3310-420D-B3B3-BE096F62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7511A5-AC26-458E-ABAD-835E6DFF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9745-B618-45E7-B6FF-8322E0BD646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72435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D3E53-F0D8-423B-A7F9-4589BAB08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8B8FB2-D8FD-456C-B7EF-05C77BEAE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06F06C-F11B-48E6-AB3B-609419A40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DEA896-A3B8-40A6-A7BA-37634BAE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39F5-7969-4D05-921A-AE526D0C8324}" type="datetimeFigureOut">
              <a:rPr lang="ru-KZ" smtClean="0"/>
              <a:t>21.10.2025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31D004-1008-4E38-B577-2D978838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BD9792-73FF-4185-85C0-AE19C3F2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9745-B618-45E7-B6FF-8322E0BD646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1899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E5387A-C446-4BEA-8C71-2C785DF3E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DCC9891-B534-4DBF-A27C-8CA17B04D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B9CEAF-210B-458B-803A-F64782326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034457-B842-42D7-9296-CF0C8891C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39F5-7969-4D05-921A-AE526D0C8324}" type="datetimeFigureOut">
              <a:rPr lang="ru-KZ" smtClean="0"/>
              <a:t>21.10.2025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08E9D4-A632-4C04-A58C-9662A2E88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672AF4-34B9-4286-AACA-62CF9C45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9745-B618-45E7-B6FF-8322E0BD646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6953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1000E-C396-4943-8EF6-473779754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4950B7-8FB2-4F4D-AF09-6F715F1D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1E7237-11B5-44B1-A809-075B57750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39F5-7969-4D05-921A-AE526D0C8324}" type="datetimeFigureOut">
              <a:rPr lang="ru-KZ" smtClean="0"/>
              <a:t>21.10.2025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2EC831-B61A-43E1-B4DB-119A951F4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2FEE76-F680-421D-98D0-33B0250CA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9745-B618-45E7-B6FF-8322E0BD646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94205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1A469C-8119-4768-8240-21B79B335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12F846-73C1-4B62-807C-5C136DE67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4672F0-95D8-4C6D-905F-60086671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39F5-7969-4D05-921A-AE526D0C8324}" type="datetimeFigureOut">
              <a:rPr lang="ru-KZ" smtClean="0"/>
              <a:t>21.10.2025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63E981-53A4-4339-A50A-7DA1328A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A8DABA-20A9-4049-9C26-8059AB12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9745-B618-45E7-B6FF-8322E0BD646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0161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A4661-9C18-4B24-AA98-D2CC6C9DD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78DB22-87D4-442C-A34B-38EA3D585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783CDC-21BE-4778-A6D9-2E7DADDEA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F39F5-7969-4D05-921A-AE526D0C8324}" type="datetimeFigureOut">
              <a:rPr lang="ru-KZ" smtClean="0"/>
              <a:t>21.10.2025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FD5B27-51DC-44C3-81D1-44F6F902E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D8EE06-4938-4EC8-B1CE-CB817BB1D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49745-B618-45E7-B6FF-8322E0BD646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4005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1.%20&#1057;&#1077;&#1084;&#1100;&#1103;.docx" TargetMode="External"/><Relationship Id="rId2" Type="http://schemas.openxmlformats.org/officeDocument/2006/relationships/hyperlink" Target="0.%20&#1057;&#1090;&#1091;&#1076;&#1077;&#1085;&#1090;..docx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3.%20&#1042;&#1085;&#1091;&#1090;&#1088;&#1080;&#1082;&#1086;&#1083;&#1083;&#1077;&#1076;&#1078;&#1085;&#1072;&#1103;%20&#1089;&#1088;&#1077;&#1076;&#1072;.docx" TargetMode="External"/><Relationship Id="rId4" Type="http://schemas.openxmlformats.org/officeDocument/2006/relationships/hyperlink" Target="2.%20&#1043;&#1083;&#1072;&#1074;&#1085;&#1099;&#1077;%20&#1086;&#1088;&#1080;&#1077;&#1085;&#1090;&#1080;&#1088;&#1099;%20&#1080;%20&#1087;&#1088;&#1072;&#1074;&#1080;&#1083;&#1072;.doc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5.%20&#1050;&#1072;&#1088;&#1100;&#1077;&#1088;&#1085;&#1086;&#1077;%20&#1089;&#1090;&#1072;&#1085;&#1086;&#1074;&#1083;&#1077;&#1085;&#1080;&#1077;.docx" TargetMode="External"/><Relationship Id="rId2" Type="http://schemas.openxmlformats.org/officeDocument/2006/relationships/hyperlink" Target="4.%20&#1058;&#1077;&#1093;&#1085;&#1086;&#1083;&#1086;&#1075;&#1080;&#1080;%20&#1080;%20&#1094;&#1080;&#1092;&#1088;&#1086;&#1074;&#1099;&#1077;%20&#1088;&#1077;&#1089;&#1091;&#1088;&#1089;&#1099;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6.%20&#1054;&#1073;&#1097;&#1077;&#1089;&#1090;&#1074;&#1086;%20&#1080;%20&#1089;&#1086;&#1086;&#1073;&#1097;&#1077;&#1089;&#1090;&#1074;&#1072;.docx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2DB1F852-BECC-4ACA-9748-90A6674F082E}"/>
              </a:ext>
            </a:extLst>
          </p:cNvPr>
          <p:cNvSpPr/>
          <p:nvPr/>
        </p:nvSpPr>
        <p:spPr>
          <a:xfrm>
            <a:off x="673052" y="1528355"/>
            <a:ext cx="3178043" cy="14641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Семья и родители</a:t>
            </a:r>
            <a:endParaRPr lang="ru-KZ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679AC-4213-4C29-BD2F-E1CE41F9D0A7}"/>
              </a:ext>
            </a:extLst>
          </p:cNvPr>
          <p:cNvSpPr txBox="1"/>
          <p:nvPr/>
        </p:nvSpPr>
        <p:spPr>
          <a:xfrm>
            <a:off x="253418" y="224722"/>
            <a:ext cx="11335871" cy="703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KZ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KZ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Экосистема инклюзивного образования</a:t>
            </a:r>
            <a:r>
              <a:rPr lang="ru-KZ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это комплексная среда, направленная на обеспечение качественного образования для всех детей, включая детей с особыми образовательными потребностями (ООП).</a:t>
            </a:r>
            <a:endParaRPr lang="ru-KZ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B31099A-2CD6-4E92-B8CC-7B53F5A6B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085" y="1922929"/>
            <a:ext cx="1482538" cy="23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46EFCF77-5BAF-46F0-92F4-095B9EAF951F}"/>
              </a:ext>
            </a:extLst>
          </p:cNvPr>
          <p:cNvSpPr/>
          <p:nvPr/>
        </p:nvSpPr>
        <p:spPr>
          <a:xfrm>
            <a:off x="3165566" y="5007090"/>
            <a:ext cx="3684493" cy="15376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Внутриколледжная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KZ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среда</a:t>
            </a:r>
            <a:endParaRPr lang="ru-KZ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51ED98A9-05A9-47F6-951B-B4147C7C0A3F}"/>
              </a:ext>
            </a:extLst>
          </p:cNvPr>
          <p:cNvSpPr/>
          <p:nvPr/>
        </p:nvSpPr>
        <p:spPr>
          <a:xfrm>
            <a:off x="436036" y="3389881"/>
            <a:ext cx="3684493" cy="14641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	Главные ориентиры и правила</a:t>
            </a:r>
            <a:endParaRPr lang="ru-KZ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DB538D9F-F6A8-4B40-AB1B-55BA3442C124}"/>
              </a:ext>
            </a:extLst>
          </p:cNvPr>
          <p:cNvSpPr/>
          <p:nvPr/>
        </p:nvSpPr>
        <p:spPr>
          <a:xfrm>
            <a:off x="7306582" y="4888795"/>
            <a:ext cx="3684493" cy="15376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Технологии и цифровые ресурсы</a:t>
            </a:r>
            <a:endParaRPr lang="ru-KZ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B7711130-8F49-45A5-8048-3136D6B546B5}"/>
              </a:ext>
            </a:extLst>
          </p:cNvPr>
          <p:cNvSpPr/>
          <p:nvPr/>
        </p:nvSpPr>
        <p:spPr>
          <a:xfrm>
            <a:off x="8091287" y="1344947"/>
            <a:ext cx="3684493" cy="14641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Общество и сообщества</a:t>
            </a:r>
            <a:endParaRPr lang="ru-KZ" sz="18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A78B3EE-2B9F-41D0-8EA1-13A428A75989}"/>
              </a:ext>
            </a:extLst>
          </p:cNvPr>
          <p:cNvCxnSpPr>
            <a:cxnSpLocks/>
          </p:cNvCxnSpPr>
          <p:nvPr/>
        </p:nvCxnSpPr>
        <p:spPr>
          <a:xfrm flipV="1">
            <a:off x="7041128" y="2386074"/>
            <a:ext cx="1015717" cy="243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3C31D435-B282-4FA3-AC82-0D8081714FF2}"/>
              </a:ext>
            </a:extLst>
          </p:cNvPr>
          <p:cNvCxnSpPr>
            <a:cxnSpLocks/>
          </p:cNvCxnSpPr>
          <p:nvPr/>
        </p:nvCxnSpPr>
        <p:spPr>
          <a:xfrm>
            <a:off x="6695903" y="4140805"/>
            <a:ext cx="972336" cy="747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7017829A-7544-4E09-A550-A3DD9943C2DA}"/>
              </a:ext>
            </a:extLst>
          </p:cNvPr>
          <p:cNvCxnSpPr>
            <a:cxnSpLocks/>
          </p:cNvCxnSpPr>
          <p:nvPr/>
        </p:nvCxnSpPr>
        <p:spPr>
          <a:xfrm flipH="1">
            <a:off x="5273846" y="4415477"/>
            <a:ext cx="148386" cy="438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5A68EAB5-50B0-4F87-ADA5-5003049D0D4B}"/>
              </a:ext>
            </a:extLst>
          </p:cNvPr>
          <p:cNvCxnSpPr>
            <a:cxnSpLocks/>
          </p:cNvCxnSpPr>
          <p:nvPr/>
        </p:nvCxnSpPr>
        <p:spPr>
          <a:xfrm flipH="1">
            <a:off x="4246705" y="3777928"/>
            <a:ext cx="761108" cy="187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3CD3EFD0-DB18-40BB-BFD7-81D1767647E7}"/>
              </a:ext>
            </a:extLst>
          </p:cNvPr>
          <p:cNvCxnSpPr>
            <a:cxnSpLocks/>
          </p:cNvCxnSpPr>
          <p:nvPr/>
        </p:nvCxnSpPr>
        <p:spPr>
          <a:xfrm flipH="1" flipV="1">
            <a:off x="4016716" y="2598301"/>
            <a:ext cx="931802" cy="294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A5C9FA3C-4A65-482D-B23B-28B3737E7CAB}"/>
              </a:ext>
            </a:extLst>
          </p:cNvPr>
          <p:cNvSpPr/>
          <p:nvPr/>
        </p:nvSpPr>
        <p:spPr>
          <a:xfrm>
            <a:off x="8538150" y="3015710"/>
            <a:ext cx="3281814" cy="146418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Карьерное становление</a:t>
            </a:r>
            <a:endParaRPr lang="ru-KZ" sz="18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24A36DD-FAD9-4E49-AFD7-B7A9E357DF76}"/>
              </a:ext>
            </a:extLst>
          </p:cNvPr>
          <p:cNvCxnSpPr>
            <a:cxnSpLocks/>
          </p:cNvCxnSpPr>
          <p:nvPr/>
        </p:nvCxnSpPr>
        <p:spPr>
          <a:xfrm>
            <a:off x="7010625" y="3408014"/>
            <a:ext cx="1315228" cy="243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113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AFC421-7904-4CB6-A115-06B3BC1C8BA3}"/>
              </a:ext>
            </a:extLst>
          </p:cNvPr>
          <p:cNvSpPr txBox="1"/>
          <p:nvPr/>
        </p:nvSpPr>
        <p:spPr>
          <a:xfrm>
            <a:off x="466165" y="453184"/>
            <a:ext cx="11725835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tabLst>
                <a:tab pos="457200" algn="l"/>
              </a:tabLst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Студент </a:t>
            </a:r>
            <a:r>
              <a:rPr lang="ru-KZ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(центральный элемент)</a:t>
            </a:r>
            <a:endParaRPr lang="ru-K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K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его потребности, способности и особенности находятся в центре внимания;</a:t>
            </a:r>
            <a:endParaRPr lang="ru-K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K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оказывается индивидуальная поддержка для раскрытия потенциала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самоопределения, выбора траектории карьерного становления</a:t>
            </a:r>
            <a:r>
              <a:rPr lang="ru-K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K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1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. </a:t>
            </a:r>
            <a:r>
              <a:rPr lang="ru-KZ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Семья и родители</a:t>
            </a:r>
            <a:endParaRPr lang="ru-K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K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активное участие родителей;</a:t>
            </a:r>
            <a:endParaRPr lang="ru-K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K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партнёрство в принятии решений;</a:t>
            </a:r>
            <a:endParaRPr lang="ru-K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K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консультации и тренинги для родителей.</a:t>
            </a:r>
            <a:endParaRPr lang="ru-K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2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. Главные ориентиры и правила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5475" lvl="0" indent="-176213">
              <a:buFont typeface="Courier New" panose="02070309020205020404" pitchFamily="49" charset="0"/>
              <a:buChar char="o"/>
              <a:tabLst>
                <a:tab pos="722313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K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Закон «Об образовании» и подзаконные акты;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5475" lvl="0" indent="-176213">
              <a:buFont typeface="Courier New" panose="02070309020205020404" pitchFamily="49" charset="0"/>
              <a:buChar char="o"/>
              <a:tabLst>
                <a:tab pos="722313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KZ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осударственные</a:t>
            </a:r>
            <a:r>
              <a:rPr lang="ru-K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программы и финансирование;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25475" lvl="0" indent="-176213">
              <a:buFont typeface="Courier New" panose="02070309020205020404" pitchFamily="49" charset="0"/>
              <a:buChar char="o"/>
              <a:tabLst>
                <a:tab pos="722313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С</a:t>
            </a:r>
            <a:r>
              <a:rPr lang="ru-KZ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истемы</a:t>
            </a:r>
            <a:r>
              <a:rPr lang="ru-K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мониторинга и оценки.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3. </a:t>
            </a:r>
            <a:r>
              <a:rPr lang="ru-RU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Внутриколледжная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  среда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5013" lvl="0" indent="-285750">
              <a:buFont typeface="Courier New" panose="02070309020205020404" pitchFamily="49" charset="0"/>
              <a:buChar char="o"/>
              <a:tabLst>
                <a:tab pos="801688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политика инклюзивности (доступность и недискриминация);</a:t>
            </a:r>
          </a:p>
          <a:p>
            <a:pPr marL="735013" lvl="0" indent="-285750">
              <a:buFont typeface="Courier New" panose="02070309020205020404" pitchFamily="49" charset="0"/>
              <a:buChar char="o"/>
              <a:tabLst>
                <a:tab pos="801688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профессиональная подготовка учителей;</a:t>
            </a:r>
          </a:p>
          <a:p>
            <a:pPr marL="735013" lvl="0" indent="-285750">
              <a:buFont typeface="Courier New" panose="02070309020205020404" pitchFamily="49" charset="0"/>
              <a:buChar char="o"/>
              <a:tabLst>
                <a:tab pos="801688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работа специалистов (логопед, дефектолог, психолог);</a:t>
            </a:r>
          </a:p>
          <a:p>
            <a:pPr marL="735013" lvl="0" indent="-285750">
              <a:buFont typeface="Courier New" panose="02070309020205020404" pitchFamily="49" charset="0"/>
              <a:buChar char="o"/>
              <a:tabLst>
                <a:tab pos="801688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доступная инфраструктура (пандусы,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спецклассы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вспомогательные средства).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endParaRPr lang="ru-KZ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18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AC15AE-9065-4C5F-806A-02DA7A0F5E0F}"/>
              </a:ext>
            </a:extLst>
          </p:cNvPr>
          <p:cNvSpPr txBox="1"/>
          <p:nvPr/>
        </p:nvSpPr>
        <p:spPr>
          <a:xfrm>
            <a:off x="529389" y="663383"/>
            <a:ext cx="1078029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tabLst>
                <a:tab pos="457200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4. </a:t>
            </a:r>
            <a:r>
              <a:rPr lang="ru-KZ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Технологии и цифровые ресурсы</a:t>
            </a:r>
            <a:endParaRPr lang="ru-KZ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KZ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специальные образовательные технологии (программы экранного чтения, интерактивные средства);</a:t>
            </a:r>
            <a:endParaRPr lang="ru-KZ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KZ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онлайн-платформы и дистанционная поддержка;</a:t>
            </a:r>
            <a:endParaRPr lang="ru-KZ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KZ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развитие цифровой грамотности.</a:t>
            </a:r>
            <a:endParaRPr lang="ru-KZ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 action="ppaction://hlinkfile"/>
              </a:rPr>
              <a:t>5. 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 action="ppaction://hlinkfile"/>
              </a:rPr>
              <a:t>Карьерное становление</a:t>
            </a:r>
            <a:endParaRPr lang="ru-RU" sz="24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Профориентация и навигация в профессиях</a:t>
            </a:r>
            <a:r>
              <a:rPr lang="ru-KZ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KZ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Формирование профессиональных навыков и компетенций </a:t>
            </a:r>
            <a:r>
              <a:rPr lang="ru-KZ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KZ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Сопровождение и поддержка трудоустройства </a:t>
            </a:r>
            <a:r>
              <a:rPr lang="ru-KZ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KZ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6. </a:t>
            </a:r>
            <a:r>
              <a:rPr lang="ru-KZ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Общество и сообществ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а</a:t>
            </a:r>
            <a:endParaRPr lang="ru-K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K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повышение понимания инклюзии;</a:t>
            </a:r>
            <a:endParaRPr lang="ru-K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K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поддержка со стороны НПО, волонтёров, местных сообществ;</a:t>
            </a:r>
            <a:endParaRPr lang="ru-KZ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KZ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борьба со стигмой и формирование культуры принятия.</a:t>
            </a:r>
            <a:endParaRPr lang="ru-KZ" sz="2400" dirty="0"/>
          </a:p>
        </p:txBody>
      </p:sp>
    </p:spTree>
    <p:extLst>
      <p:ext uri="{BB962C8B-B14F-4D97-AF65-F5344CB8AC3E}">
        <p14:creationId xmlns:p14="http://schemas.microsoft.com/office/powerpoint/2010/main" val="179019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07698-18B1-454F-8667-AC03589F3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178"/>
            <a:ext cx="10515600" cy="1690688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экосистемы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обеспечивает социальную справедливость;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формирует уважение к разнообразию;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создаёт условия для всестороннего развития ребёнка с ООП.</a:t>
            </a:r>
            <a:endParaRPr lang="ru-K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7501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275</Words>
  <Application>Microsoft Office PowerPoint</Application>
  <PresentationFormat>Широкоэкранный</PresentationFormat>
  <Paragraphs>36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Значение экосистемы • обеспечивает социальную справедливость; • формирует уважение к разнообразию; • создаёт условия для всестороннего развития ребёнка с ООП.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Kuralai</dc:creator>
  <cp:lastModifiedBy>Kuralai</cp:lastModifiedBy>
  <cp:revision>21</cp:revision>
  <dcterms:created xsi:type="dcterms:W3CDTF">2025-09-04T03:36:40Z</dcterms:created>
  <dcterms:modified xsi:type="dcterms:W3CDTF">2025-10-21T03:24:27Z</dcterms:modified>
</cp:coreProperties>
</file>